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Space Grotesk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9d65ec2a-4f4b-4fdf-af7e-1b568a3ba7a2.fntdata" /><ns0:Relationship Id="rIdFont18" Type="http://schemas.openxmlformats.org/officeDocument/2006/relationships/font" Target="fonts/962398d3-4081-4a4c-8b05-ba371a560d24.fntdata" /><ns0:Relationship Id="rIdFont19" Type="http://schemas.openxmlformats.org/officeDocument/2006/relationships/font" Target="fonts/4ab51a63-6834-471d-8643-c420ecc5441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336702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36702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71675" y="469389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62450" y="469389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16447"/>
            <a:ext cx="50030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APPLIED DEEP LEARNING • WEIGHT-3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054572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Space Grotesk"/>
              </a:rPr>
              <a:t>Genomic Sequence Analysis using Bidirectional LSTMs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84202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Automated DNA Promoter Region Classification &amp; Motif Recognition in Python/TensorFlow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651027"/>
            <a:ext cx="1343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Presenter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851052"/>
            <a:ext cx="13430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Meda Abhinav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651027"/>
            <a:ext cx="2214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851052"/>
            <a:ext cx="2214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DNA Sequence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6775" y="4651027"/>
            <a:ext cx="2905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Time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6775" y="4851052"/>
            <a:ext cx="2905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1F5F9"/>
                </a:solidFill>
                <a:latin typeface="Inter"/>
              </a:rPr>
              <a:t>12-Minute Presentation &amp;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09837"/>
            <a:ext cx="3454449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509837"/>
            <a:ext cx="3454449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509837"/>
            <a:ext cx="3454449" cy="2647950"/>
          </a:xfrm>
          <a:prstGeom prst="roundRect">
            <a:avLst>
              <a:gd name="adj" fmla="val 431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146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28146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28146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512" y="2938462"/>
            <a:ext cx="18097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8899" y="2938462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6724" y="29384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Domain Focus &amp; Biological 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62337"/>
            <a:ext cx="37338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Genomic Promoter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24287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Automates identification of key non-coding DNA promoter regions upstream of transcription start sites.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649" y="3462337"/>
            <a:ext cx="37338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Sequential 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3649" y="3824287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Replaces manual k-mer engineering with end-to-end Recurrent Neural Networks to model nucleotide context.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899" y="3462337"/>
            <a:ext cx="373386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Research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899" y="3824287"/>
            <a:ext cx="2940099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Accelerates synthetic biology design, genomic annotation, and precise target identification in gene therapy.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2295525"/>
            <a:ext cx="3810000" cy="3076575"/>
          </a:xfrm>
          <a:prstGeom prst="roundRect">
            <a:avLst>
              <a:gd name="adj" fmla="val 371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43125"/>
            <a:ext cx="67818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67075"/>
            <a:ext cx="67818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591050"/>
            <a:ext cx="67818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43125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267075"/>
            <a:ext cx="38100" cy="1133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591050"/>
            <a:ext cx="38100" cy="9334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77200" y="3009900"/>
            <a:ext cx="3200400" cy="381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77200" y="3848100"/>
            <a:ext cx="3200400" cy="381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77200" y="4686300"/>
            <a:ext cx="3200400" cy="381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12" y="3552825"/>
            <a:ext cx="10477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012" y="4391025"/>
            <a:ext cx="104775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DATA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Dataset Composition &amp; 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7200" y="2600325"/>
            <a:ext cx="4114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Space Grotesk"/>
              </a:rPr>
              <a:t>Sequence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371725"/>
            <a:ext cx="8251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10,000 Synthetic Genomic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2647950"/>
            <a:ext cx="785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Balanced 50/50 split of promoter vs. background genomic noise.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3495675"/>
            <a:ext cx="8251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Uniform 120 bp Sequence Length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3771900"/>
            <a:ext cx="6381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Embedded TATAAT (-10 Pribnow) and TTGACA (-35) biological consensus boxes.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819650"/>
            <a:ext cx="8251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Character Tokenization &amp; Stratification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5095875"/>
            <a:ext cx="7858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Nucleotide integer encoding with post-padding and 80/20 train-test split.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500" y="3124200"/>
            <a:ext cx="3067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monospace"/>
              </a:rPr>
              <a:t>RAW: "ATCGTATAATCG..."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0" y="3962400"/>
            <a:ext cx="3067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TOKEN: [1, 4, 2, 3, 1, 4...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500" y="4800600"/>
            <a:ext cx="30670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ADE80"/>
                </a:solidFill>
                <a:latin typeface="monospace"/>
              </a:rPr>
              <a:t>TENSOR: (10000, 120)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38475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33712"/>
            <a:ext cx="257175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38475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38475"/>
            <a:ext cx="257175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NEURAL TOPOLOGY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Bidirectional LSTM Network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881" y="3267075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INPUT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801" y="350520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Space Grotesk"/>
              </a:rPr>
              <a:t>Embedding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3881" y="3800475"/>
            <a:ext cx="264318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Maps discrete nucleotide tokens to 64-dim dense space.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4231" y="3262312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RECURRENT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8151" y="3500437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Space Grotesk"/>
              </a:rPr>
              <a:t>Stacked BiLSTM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231" y="3795712"/>
            <a:ext cx="264318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64 &amp; 32 units processing 5'→3' and 3'→5' sequence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4581" y="3267075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REGULARIZATION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501" y="350520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Space Grotesk"/>
              </a:rPr>
              <a:t>Dropout &amp; BatchNorm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4581" y="3800475"/>
            <a:ext cx="264318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0.3 dropout rate + batch normalization to prevent overfitting.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4931" y="3267075"/>
            <a:ext cx="2643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Inter"/>
              </a:rPr>
              <a:t>CLASSIFIER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8851" y="350520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Space Grotesk"/>
              </a:rPr>
              <a:t>Dense Sigmoid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4931" y="3800475"/>
            <a:ext cx="264318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Single neuron output calculating promoter probability.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47937"/>
            <a:ext cx="53911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2547937"/>
            <a:ext cx="53911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29062"/>
            <a:ext cx="53911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929062"/>
            <a:ext cx="53911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TRAINING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Hyperparameters &amp; Optimization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76537"/>
            <a:ext cx="616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OPTIMIZER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76562"/>
            <a:ext cx="647580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Adam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309937"/>
            <a:ext cx="6167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Inter"/>
              </a:rPr>
              <a:t>Learning Rate = 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2776537"/>
            <a:ext cx="5772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LOSS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850" y="2976562"/>
            <a:ext cx="57721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Binary Crossentropy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3309937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Inter"/>
              </a:rPr>
              <a:t>Probabilistic loss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157662"/>
            <a:ext cx="616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BATCH SIZE &amp; 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357687"/>
            <a:ext cx="647580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64 / 25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691062"/>
            <a:ext cx="6167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Inter"/>
              </a:rPr>
              <a:t>20% Validation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4157662"/>
            <a:ext cx="57721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CALLBACKS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4357687"/>
            <a:ext cx="57721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EarlyStopping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691062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284C7"/>
                </a:solidFill>
                <a:latin typeface="Inter"/>
              </a:rPr>
              <a:t>Patience = 5 + Checkpoint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5387" y="2586037"/>
            <a:ext cx="4437012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45387" y="3929062"/>
            <a:ext cx="4437012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45387" y="2586037"/>
            <a:ext cx="38100" cy="1152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45387" y="3929062"/>
            <a:ext cx="38100" cy="11525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3562"/>
            <a:ext cx="6230987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43087"/>
            <a:ext cx="6211937" cy="398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EXPERIMENTAL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Training Trajectory &amp; Convergence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2087" y="2814637"/>
            <a:ext cx="47799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Rapid Loss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2087" y="3109912"/>
            <a:ext cx="403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Binary crossentropy loss decreases smoothly within initial 5 epochs.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12087" y="4157662"/>
            <a:ext cx="47799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High Accuracy Convergence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2087" y="4452937"/>
            <a:ext cx="403696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Validation accuracy closely tracks training accuracy reaching over 98%.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41914" y="2395537"/>
            <a:ext cx="4840485" cy="1009650"/>
          </a:xfrm>
          <a:prstGeom prst="roundRect">
            <a:avLst>
              <a:gd name="adj" fmla="val 113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41914" y="3557587"/>
            <a:ext cx="4840485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41914" y="4491037"/>
            <a:ext cx="4840485" cy="781050"/>
          </a:xfrm>
          <a:prstGeom prst="roundRect">
            <a:avLst>
              <a:gd name="adj" fmla="val 1463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33562"/>
            <a:ext cx="5827514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43087"/>
            <a:ext cx="5808464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MODEL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Confusion Matrix &amp; Classification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2414" y="2586037"/>
            <a:ext cx="52595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2414" y="2747962"/>
            <a:ext cx="5259585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284C7"/>
                </a:solidFill>
                <a:latin typeface="Inter"/>
              </a:rPr>
              <a:t>99.85%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2414" y="3748087"/>
            <a:ext cx="52595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TRUE POSITIVES / NEGATIVES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2414" y="3948112"/>
            <a:ext cx="5259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1,002 Non-Promoters &amp; 995 Promoters Correct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2414" y="4681537"/>
            <a:ext cx="52595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FALSE POSITIVE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2414" y="4881562"/>
            <a:ext cx="525958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Near Zero (&lt;0.15% Error 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2737"/>
            <a:ext cx="3454449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952750"/>
            <a:ext cx="3454449" cy="1762125"/>
          </a:xfrm>
          <a:prstGeom prst="roundRect">
            <a:avLst>
              <a:gd name="adj" fmla="val 648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852737"/>
            <a:ext cx="3454449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19437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549" y="32194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119437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233737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3333750"/>
            <a:ext cx="1714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9574" y="3233737"/>
            <a:ext cx="1714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PRODUCT DELIVERABLE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Interactive Live Demo (Colab Widget)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652837"/>
            <a:ext cx="383387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Preset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48112"/>
            <a:ext cx="3016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Instant evaluation of positive promoter motifs vs. GC-rich background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5549" y="3752850"/>
            <a:ext cx="383387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Custom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5549" y="4048125"/>
            <a:ext cx="3016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Dynamic text interface for testing arbitrary audience DNA strings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799" y="3652837"/>
            <a:ext cx="3797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Space Grotesk"/>
              </a:rPr>
              <a:t>Real-Time Logits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799" y="3948112"/>
            <a:ext cx="3016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Instant output of confidence score, binary class, and probability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66825"/>
            <a:ext cx="5334000" cy="5133975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266825"/>
            <a:ext cx="5334000" cy="5133975"/>
          </a:xfrm>
          <a:prstGeom prst="roundRect">
            <a:avLst>
              <a:gd name="adj" fmla="val 22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19412"/>
            <a:ext cx="6200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91941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946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BiLSTM Processing: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Successfully captures dual-directional genomic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3381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High Metrics: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Achieved &gt;98% test accuracy across genomic sequences.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816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End-to-End Pipeline: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Complete Colab deployment with interactive widget.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31946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FASTA Real Datasets: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Scale to real E. coli and human genome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83381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Hybrid Models: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Integrate 1D CNN layers for local motif extraction.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348162"/>
            <a:ext cx="4819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Web API Deployment: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Package model into a Streamlit / Flask web 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0887" y="4205287"/>
            <a:ext cx="1733550" cy="333375"/>
          </a:xfrm>
          <a:prstGeom prst="roundRect">
            <a:avLst>
              <a:gd name="adj" fmla="val 114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76837" y="4205287"/>
            <a:ext cx="1581150" cy="333375"/>
          </a:xfrm>
          <a:prstGeom prst="roundRect">
            <a:avLst>
              <a:gd name="adj" fmla="val 114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10387" y="4205287"/>
            <a:ext cx="1990725" cy="333375"/>
          </a:xfrm>
          <a:prstGeom prst="roundRect">
            <a:avLst>
              <a:gd name="adj" fmla="val 1142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25485" y="2319337"/>
            <a:ext cx="234088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Inter"/>
              </a:rPr>
              <a:t>SUBMISSION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4258" y="2557462"/>
            <a:ext cx="786348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Space Grotesk"/>
              </a:rPr>
              <a:t>Thank You! Any 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6468" y="3367087"/>
            <a:ext cx="77390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Google Drive Link contains Project Report, Presentation Deck, and Colab Source Code with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6593" y="4281487"/>
            <a:ext cx="18621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Project Report (PDF)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1593" y="4281487"/>
            <a:ext cx="1671637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Presentation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3946" y="4281487"/>
            <a:ext cx="218360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Inter"/>
              </a:rPr>
              <a:t>Colab Notebook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